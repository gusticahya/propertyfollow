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2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17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OPERASIONAL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Automation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Villa &amp; Property Management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32004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 ·  Consultation  ·  Pricing  ·  Upsell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akan kita bahas?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52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perjalanan klien dari awareness hingga expansion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64008" cy="1417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52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4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673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Guide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0391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call: discovery, quantifikasi, closing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3319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Guide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685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pricing &amp; packaging strategy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7889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788920"/>
            <a:ext cx="6400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319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Guide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685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journey &amp; reporting untuk revenue per client lebih tinggi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Journey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tahapan perjalanan </a:t>
            </a:r>
            <a:r>
              <a:rPr lang="en-US" sz="1300" dirty="0" err="1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</a:t>
            </a: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dari tidak tahu hingga jadi client jangka panjang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572768" cy="1051560"/>
          </a:xfrm>
          <a:prstGeom prst="rect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4904" y="2276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/ Outreach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92808" y="225856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10" name="Shape 8"/>
          <p:cNvSpPr/>
          <p:nvPr/>
        </p:nvSpPr>
        <p:spPr>
          <a:xfrm>
            <a:off x="2039112" y="1783080"/>
            <a:ext cx="1572768" cy="1051560"/>
          </a:xfrm>
          <a:prstGeom prst="rect">
            <a:avLst/>
          </a:prstGeom>
          <a:solidFill>
            <a:srgbClr val="E05A2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93976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93976" y="2276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penjelasan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225856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758184" y="1783080"/>
            <a:ext cx="1572768" cy="105156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13048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13048" y="2276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 meeting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30952" y="225856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77256" y="1783080"/>
            <a:ext cx="1572768" cy="1051560"/>
          </a:xfrm>
          <a:prstGeom prst="rect">
            <a:avLst/>
          </a:prstGeom>
          <a:solidFill>
            <a:srgbClr val="9BC53D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32120" y="2276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loss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50024" y="225856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6328" y="1783080"/>
            <a:ext cx="1572768" cy="1051560"/>
          </a:xfrm>
          <a:prstGeom prst="rect">
            <a:avLst/>
          </a:prstGeom>
          <a:solidFill>
            <a:srgbClr val="4CAF82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251192" y="1892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51192" y="2276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solusi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1572768" cy="1051560"/>
          </a:xfrm>
          <a:prstGeom prst="rect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signed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92808" y="353872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29" name="Shape 27"/>
          <p:cNvSpPr/>
          <p:nvPr/>
        </p:nvSpPr>
        <p:spPr>
          <a:xfrm>
            <a:off x="2039112" y="3063240"/>
            <a:ext cx="1572768" cy="1051560"/>
          </a:xfrm>
          <a:prstGeom prst="rect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093976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093976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sistem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11880" y="353872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33" name="Shape 31"/>
          <p:cNvSpPr/>
          <p:nvPr/>
        </p:nvSpPr>
        <p:spPr>
          <a:xfrm>
            <a:off x="3758184" y="3063240"/>
            <a:ext cx="1572768" cy="1051560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813048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813048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go-live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30952" y="353872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37" name="Shape 35"/>
          <p:cNvSpPr/>
          <p:nvPr/>
        </p:nvSpPr>
        <p:spPr>
          <a:xfrm>
            <a:off x="5477256" y="3063240"/>
            <a:ext cx="1572768" cy="1051560"/>
          </a:xfrm>
          <a:prstGeom prst="rect">
            <a:avLst/>
          </a:prstGeom>
          <a:solidFill>
            <a:srgbClr val="FF5722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532120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50024" y="3538728"/>
            <a:ext cx="146304" cy="91440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41" name="Shape 39"/>
          <p:cNvSpPr/>
          <p:nvPr/>
        </p:nvSpPr>
        <p:spPr>
          <a:xfrm>
            <a:off x="7196328" y="3063240"/>
            <a:ext cx="1572768" cy="1051560"/>
          </a:xfrm>
          <a:prstGeom prst="rect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251192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251192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Setiap tahap harus dilalui secara terstruktur untuk memastikan conversion &amp; delivery konsisten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Consultation Guide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untuk call dengan calon klien — dari opening hingga closing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7472" cy="34747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Discovery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73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sumber inquiry, volume, conversion rate, average booking value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347472" cy="34747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12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inquiry dibalas cepat? Ada yang tidak ter-follow up?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347472" cy="34747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"Kalau 2 inquiry/minggu tidak di-handle, berapa booking hilang?"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295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"Kalau kita bisa recover 1–2 booking saja per minggu..."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1879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Introduction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automation, follow-up system, calendar sync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0" y="1554480"/>
            <a:ext cx="3474720" cy="24688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406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Aturan Konsultasi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Jangan mulai dari harga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0680" y="2532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Fokus selalu ke value &amp; revenue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40680" y="2916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Jangan terlalu teknis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3300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Selalu arahkan ke keputusan bisnis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40680" y="3685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Soft close: audit dulu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03520" y="4160520"/>
            <a:ext cx="3474720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4206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Ubah conversation menjadi keputusan bisnis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Guide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ditentukan dari value — bukan jam kerja atau kompleksitas teknis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Value  =  Revenue Uplift  +  Cost Saving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 =  5% – 20%  dari Total Value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43200"/>
            <a:ext cx="2651760" cy="64008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Villa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(1–5 unit)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456432"/>
            <a:ext cx="1737360" cy="27432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5–15 jt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/ bulan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334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500rb–2 jt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2651760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2743200"/>
            <a:ext cx="26517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Villa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(3–15 unit)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3456432"/>
            <a:ext cx="1737360" cy="27432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15–40 jt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/ bulan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4334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2–5 jt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651760" cy="20574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2743200"/>
            <a:ext cx="2651760" cy="640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3456432"/>
            <a:ext cx="1737360" cy="27432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40–100 jt+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/ bulan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4334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5–15 jt+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paket layanan yang </a:t>
            </a:r>
            <a:r>
              <a:rPr lang="en-US" sz="1200" dirty="0" err="1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terstruktur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dari booking hingga scale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261872"/>
            <a:ext cx="1417320" cy="27432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Level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Booking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2331720" cy="36576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automation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363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 quotation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6667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Follow-up 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697480" cy="3429000"/>
          </a:xfrm>
          <a:prstGeom prst="rect">
            <a:avLst/>
          </a:prstGeom>
          <a:solidFill>
            <a:srgbClr val="0F3460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1261872"/>
            <a:ext cx="1417320" cy="274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Operations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2487168"/>
            <a:ext cx="233172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Package 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1363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Calendar sync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6667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Operations automation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371600"/>
            <a:ext cx="269748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261872"/>
            <a:ext cx="1417320" cy="2743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5508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Optimize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55080" y="2487168"/>
            <a:ext cx="2331720" cy="36576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Package 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1363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Guest journey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6667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&amp; reporting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274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Jangan mulai dari harga · Selalu mulai dari value · Harga = % dari total value yang bisa kita deliver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Upsell Guide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hanya dilakukan setelah klien melihat hasil nyata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1480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600200"/>
            <a:ext cx="411480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Journey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Upsell layanan ke tamu (transport, chef, dll)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Meningkatkan review kualitas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Mendorong repeat booking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3749040" cy="27432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Booking mulai naik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booking × 20% ambil upsell × Rp300rb = Rp1.200.000/bln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600200"/>
            <a:ext cx="411480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160020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83480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Mengetahui performa per channel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Optimasi pricing strategy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Meningkatkan conversion rate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3858768"/>
            <a:ext cx="3749040" cy="27432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9319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Klien ingin kontrol lebih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+5% × Avg booking Rp3jt = tambahan revenue signifikan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Upsell terlalu cepat = red flag  ·  Selalu tunjukkan hasil dulu sebelum upsell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Conversation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langkah sistematis dari discovery hingga present harga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269748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928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volume inquiry, conversion rate, average booking value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23444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234440"/>
            <a:ext cx="2697480" cy="54864"/>
          </a:xfrm>
          <a:prstGeom prst="rect">
            <a:avLst/>
          </a:prstGeom>
          <a:solidFill>
            <a:srgbClr val="E05A20"/>
          </a:solidFill>
          <a:ln/>
        </p:spPr>
      </p:sp>
      <p:sp>
        <p:nvSpPr>
          <p:cNvPr id="13" name="Shape 11"/>
          <p:cNvSpPr/>
          <p:nvPr/>
        </p:nvSpPr>
        <p:spPr>
          <a:xfrm>
            <a:off x="3493008" y="1417320"/>
            <a:ext cx="411480" cy="411480"/>
          </a:xfrm>
          <a:prstGeom prst="ellipse">
            <a:avLst/>
          </a:prstGeom>
          <a:solidFill>
            <a:srgbClr val="E05A20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14216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18928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inquiry tidak terbalas? Ada yang tidak di-follow up?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23444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23444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Shape 17"/>
          <p:cNvSpPr/>
          <p:nvPr/>
        </p:nvSpPr>
        <p:spPr>
          <a:xfrm>
            <a:off x="6345936" y="141732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67144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45936" y="18928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potensi booking yang hilang setiap minggu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926080"/>
            <a:ext cx="269748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potensi tambahan revenue jika di-recover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2926080"/>
            <a:ext cx="2697480" cy="5486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1" name="Shape 29"/>
          <p:cNvSpPr/>
          <p:nvPr/>
        </p:nvSpPr>
        <p:spPr>
          <a:xfrm>
            <a:off x="3493008" y="3108960"/>
            <a:ext cx="411480" cy="41148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3493008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14216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Solution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93008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sistem automation yang relevan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08776" y="29260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2926080"/>
            <a:ext cx="2697480" cy="5486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7" name="Shape 35"/>
          <p:cNvSpPr/>
          <p:nvPr/>
        </p:nvSpPr>
        <p:spPr>
          <a:xfrm>
            <a:off x="6345936" y="3108960"/>
            <a:ext cx="411480" cy="41148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67144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Price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45936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Kaitkan harga ke value - bukan biaya teknologi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Flags &amp; 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2004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Red Flags — Hindari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Klien hanya fokus ke harga (bukan value)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Tidak punya volume inquiry yang jelas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Bisnis model tidak jelas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81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Upsell terlalu cepat sebelum ada hasil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Diskon tanpa alasan yang valid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87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Justify harga dengan "teknologi"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Practices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Selalu mulai dari value - bukan harga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075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Gunakan data nyata dari klien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578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Hitung revenue loss bersama klien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81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Reframe ke potensi recovery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Soft close: audit dulu, baru proposal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087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Upsell hanya setelah hasil terbukti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2743200"/>
            <a:ext cx="3200400" cy="3200400"/>
          </a:xfrm>
          <a:prstGeom prst="ellipse">
            <a:avLst/>
          </a:prstGeom>
          <a:solidFill>
            <a:srgbClr val="E94560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Kita tidak menjual automation.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Kita menjual peningkatan revenue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AAA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 efisiensi operasional.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0" y="3429000"/>
            <a:ext cx="4572000" cy="45720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 ·  Consultation  ·  Pricing  ·  Upsell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711</Words>
  <Application>Microsoft Office PowerPoint</Application>
  <PresentationFormat>On-screen Show (16:9)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Automation Guidance</dc:title>
  <dc:subject>PptxGenJS Presentation</dc:subject>
  <dc:creator>PptxGenJS</dc:creator>
  <cp:lastModifiedBy>G C</cp:lastModifiedBy>
  <cp:revision>2</cp:revision>
  <dcterms:created xsi:type="dcterms:W3CDTF">2026-04-27T21:08:31Z</dcterms:created>
  <dcterms:modified xsi:type="dcterms:W3CDTF">2026-04-27T21:15:22Z</dcterms:modified>
</cp:coreProperties>
</file>