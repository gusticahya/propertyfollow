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71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172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-1097280"/>
            <a:ext cx="3657600" cy="36576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-457200"/>
            <a:ext cx="2560320" cy="2560320"/>
          </a:xfrm>
          <a:prstGeom prst="ellipse">
            <a:avLst/>
          </a:prstGeom>
          <a:solidFill>
            <a:srgbClr val="E94560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OPERASIONAL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Automation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Villa &amp; Property Management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320040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  ·  Consultation  ·  Pricing  ·  Upsell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yang akan kita bahas?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22860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43000"/>
            <a:ext cx="40233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4173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52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6733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391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perjalanan klien dari awareness hingga expansion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40233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43000"/>
            <a:ext cx="64008" cy="14173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52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34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0" y="16733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Guide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0391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call: discovery, quantifikasi, closing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98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" y="3319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Guide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6850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Value-based pricing &amp; packaging strategy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46320" y="2788920"/>
            <a:ext cx="40233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788920"/>
            <a:ext cx="64008" cy="1417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2898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29200" y="3319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Guide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36850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journey &amp; reporting untuk revenue per client lebih tinggi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Journey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tahapan perjalanan </a:t>
            </a:r>
            <a:r>
              <a:rPr lang="en-US" sz="1300" dirty="0" err="1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</a:t>
            </a:r>
            <a:r>
              <a:rPr lang="en-US" sz="13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dari tidak tahu hingga jadi client jangka panjang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783080"/>
            <a:ext cx="1572768" cy="1051560"/>
          </a:xfrm>
          <a:prstGeom prst="rect">
            <a:avLst/>
          </a:prstGeom>
          <a:solidFill>
            <a:srgbClr val="E94560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74904" y="1892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74904" y="2276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/ Outreach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92808" y="225856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10" name="Shape 8"/>
          <p:cNvSpPr/>
          <p:nvPr/>
        </p:nvSpPr>
        <p:spPr>
          <a:xfrm>
            <a:off x="2039112" y="1783080"/>
            <a:ext cx="1572768" cy="1051560"/>
          </a:xfrm>
          <a:prstGeom prst="rect">
            <a:avLst/>
          </a:prstGeom>
          <a:solidFill>
            <a:srgbClr val="E05A20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2093976" y="1892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093976" y="2276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Kirim penjelasan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11880" y="225856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14" name="Shape 12"/>
          <p:cNvSpPr/>
          <p:nvPr/>
        </p:nvSpPr>
        <p:spPr>
          <a:xfrm>
            <a:off x="3758184" y="1783080"/>
            <a:ext cx="1572768" cy="1051560"/>
          </a:xfrm>
          <a:prstGeom prst="rect">
            <a:avLst/>
          </a:prstGeom>
          <a:solidFill>
            <a:srgbClr val="F5A623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92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13048" y="2276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/ meeting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30952" y="225856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783080"/>
            <a:ext cx="1572768" cy="1051560"/>
          </a:xfrm>
          <a:prstGeom prst="rect">
            <a:avLst/>
          </a:prstGeom>
          <a:solidFill>
            <a:srgbClr val="9BC53D">
              <a:alpha val="8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532120" y="1892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532120" y="2276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loss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050024" y="225856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22" name="Shape 20"/>
          <p:cNvSpPr/>
          <p:nvPr/>
        </p:nvSpPr>
        <p:spPr>
          <a:xfrm>
            <a:off x="7196328" y="1783080"/>
            <a:ext cx="1572768" cy="1051560"/>
          </a:xfrm>
          <a:prstGeom prst="rect">
            <a:avLst/>
          </a:prstGeom>
          <a:solidFill>
            <a:srgbClr val="4CAF82">
              <a:alpha val="8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251192" y="1892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251192" y="2276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solusi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3063240"/>
            <a:ext cx="1572768" cy="1051560"/>
          </a:xfrm>
          <a:prstGeom prst="rect">
            <a:avLst/>
          </a:prstGeom>
          <a:solidFill>
            <a:srgbClr val="2196F3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74904" y="31729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4904" y="35570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signed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92808" y="353872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29" name="Shape 27"/>
          <p:cNvSpPr/>
          <p:nvPr/>
        </p:nvSpPr>
        <p:spPr>
          <a:xfrm>
            <a:off x="2039112" y="3063240"/>
            <a:ext cx="1572768" cy="1051560"/>
          </a:xfrm>
          <a:prstGeom prst="rect">
            <a:avLst/>
          </a:prstGeom>
          <a:solidFill>
            <a:srgbClr val="9C27B0">
              <a:alpha val="8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093976" y="31729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093976" y="35570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sistem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11880" y="353872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33" name="Shape 31"/>
          <p:cNvSpPr/>
          <p:nvPr/>
        </p:nvSpPr>
        <p:spPr>
          <a:xfrm>
            <a:off x="3758184" y="3063240"/>
            <a:ext cx="1572768" cy="1051560"/>
          </a:xfrm>
          <a:prstGeom prst="rect">
            <a:avLst/>
          </a:prstGeom>
          <a:solidFill>
            <a:srgbClr val="0F3460">
              <a:alpha val="8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3813048" y="31729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813048" y="35570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go-live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330952" y="353872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37" name="Shape 35"/>
          <p:cNvSpPr/>
          <p:nvPr/>
        </p:nvSpPr>
        <p:spPr>
          <a:xfrm>
            <a:off x="5477256" y="3063240"/>
            <a:ext cx="1572768" cy="1051560"/>
          </a:xfrm>
          <a:prstGeom prst="rect">
            <a:avLst/>
          </a:prstGeom>
          <a:solidFill>
            <a:srgbClr val="FF5722">
              <a:alpha val="8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532120" y="31729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532120" y="35570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50024" y="3538728"/>
            <a:ext cx="146304" cy="91440"/>
          </a:xfrm>
          <a:prstGeom prst="rect">
            <a:avLst/>
          </a:prstGeom>
          <a:solidFill>
            <a:srgbClr val="666688"/>
          </a:solidFill>
          <a:ln/>
        </p:spPr>
      </p:sp>
      <p:sp>
        <p:nvSpPr>
          <p:cNvPr id="41" name="Shape 39"/>
          <p:cNvSpPr/>
          <p:nvPr/>
        </p:nvSpPr>
        <p:spPr>
          <a:xfrm>
            <a:off x="7196328" y="3063240"/>
            <a:ext cx="1572768" cy="1051560"/>
          </a:xfrm>
          <a:prstGeom prst="rect">
            <a:avLst/>
          </a:prstGeom>
          <a:solidFill>
            <a:srgbClr val="E94560">
              <a:alpha val="8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251192" y="31729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251192" y="35570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Setiap tahap harus dilalui secara terstruktur untuk memastikan conversion &amp; delivery konsisten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Consultation Guide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untuk call dengan calon klien — dari opening hingga closing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47472" cy="347472"/>
          </a:xfrm>
          <a:prstGeom prst="ellipse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&amp; Discovery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7739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sumber inquiry, volume, conversion rate, average booking value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212848"/>
            <a:ext cx="347472" cy="347472"/>
          </a:xfrm>
          <a:prstGeom prst="ellipse">
            <a:avLst/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22128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Identification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4323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inquiry dibalas cepat? Ada yang tidak ter-follow up?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871216"/>
            <a:ext cx="347472" cy="347472"/>
          </a:xfrm>
          <a:prstGeom prst="ellipse">
            <a:avLst/>
          </a:prstGeom>
          <a:solidFill>
            <a:srgbClr val="0F346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287121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Quantification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"Kalau 2 inquiry/minggu tidak di-handle, berapa booking hilang?"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529584"/>
            <a:ext cx="347472" cy="347472"/>
          </a:xfrm>
          <a:prstGeom prst="ellipse">
            <a:avLst/>
          </a:prstGeom>
          <a:solidFill>
            <a:srgbClr val="0F3460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5295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"Kalau kita bisa recover 1–2 booking saja per minggu..."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187952"/>
            <a:ext cx="347472" cy="347472"/>
          </a:xfrm>
          <a:prstGeom prst="ellipse">
            <a:avLst/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418795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Introduction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44074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automation, follow-up system, calendar sync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03520" y="1554480"/>
            <a:ext cx="3474720" cy="2468880"/>
          </a:xfrm>
          <a:prstGeom prst="rect">
            <a:avLst/>
          </a:prstGeom>
          <a:solidFill>
            <a:srgbClr val="0F3460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4068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Aturan Konsultasi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2148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Jangan mulai dari harga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40680" y="25328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Fokus selalu ke value &amp; revenue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40680" y="29169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Jangan terlalu teknis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40680" y="33009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Selalu arahkan ke keputusan bisnis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40680" y="3685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Soft close: audit dulu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303520" y="4160520"/>
            <a:ext cx="3474720" cy="6858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4206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Ubah conversation menjadi keputusan bisnis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Guide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ditentukan dari value — bukan jam kerja atau kompleksitas teknis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Value  =  Revenue Uplift  +  Cost Saving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 =  5% – 20%  dari Total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2651760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743200"/>
            <a:ext cx="2651760" cy="64008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Villa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(1–5 unit)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456432"/>
            <a:ext cx="1737360" cy="27432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387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767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5–15 jt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1148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/ bulan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3342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500rb–2 jt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2743200"/>
            <a:ext cx="2651760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291840" y="2743200"/>
            <a:ext cx="2651760" cy="640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Villa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(3–15 unit)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3456432"/>
            <a:ext cx="1737360" cy="27432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35387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83280" y="3767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15–40 jt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1148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/ bulan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43342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2–5 jt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2743200"/>
            <a:ext cx="2651760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0" y="2743200"/>
            <a:ext cx="2651760" cy="64008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0" y="3456432"/>
            <a:ext cx="1737360" cy="27432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5387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3767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40–100 jt+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17920" y="41148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/ bulan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43342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5–15 jt+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Packaging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2743200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paket layanan yang </a:t>
            </a:r>
            <a:r>
              <a:rPr lang="en-US" sz="1200" dirty="0" err="1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terstruktur</a:t>
            </a:r>
            <a:r>
              <a:rPr lang="en-US" sz="12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dari booking hingga scale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9748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261872"/>
            <a:ext cx="1417320" cy="274320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261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Level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4813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Booking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487168"/>
            <a:ext cx="2331720" cy="36576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6060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automation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13639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 quotation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6667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Follow-up system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1371600"/>
            <a:ext cx="2697480" cy="3429000"/>
          </a:xfrm>
          <a:prstGeom prst="rect">
            <a:avLst/>
          </a:prstGeom>
          <a:solidFill>
            <a:srgbClr val="0F3460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31920" y="1261872"/>
            <a:ext cx="1417320" cy="2743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6" name="Text 14"/>
          <p:cNvSpPr/>
          <p:nvPr/>
        </p:nvSpPr>
        <p:spPr>
          <a:xfrm>
            <a:off x="3931920" y="1261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14813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47472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+ Operations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74720" y="2487168"/>
            <a:ext cx="2331720" cy="3657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0" y="26060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Semua Package 01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13639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Calendar sync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74720" y="36667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Operations automation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1371600"/>
            <a:ext cx="269748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12280" y="1261872"/>
            <a:ext cx="1417320" cy="2743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1261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14813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35508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Optimize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55080" y="2487168"/>
            <a:ext cx="2331720" cy="36576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26060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Semua Package 02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313639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Guest journey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6667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&amp; reporting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11480" y="4709160"/>
            <a:ext cx="8321040" cy="256032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274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Jangan mulai dari harga · Selalu mulai dari value · Harga = % dari total value yang bisa kita deliver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Upsell Guide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hanya dilakukan setelah klien melihat hasil nyata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4114800" cy="329184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600200"/>
            <a:ext cx="4114800" cy="54864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DRIVER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Guest Journey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Upsell layanan ke tamu (transport, chef, dll)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9900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Meningkatkan review kualitas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34015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Mendorong repeat booking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858768"/>
            <a:ext cx="3749040" cy="27432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93192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Booking mulai naik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booking × 20% ambil upsell × Rp300rb = Rp1.200.000/bln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600200"/>
            <a:ext cx="4114800" cy="329184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800600" y="1600200"/>
            <a:ext cx="411480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DRIVER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8348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83480" y="25786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Mengetahui performa per channel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83480" y="29900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Optimasi pricing strategy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983480" y="34015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Meningkatkan conversion rate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983480" y="3858768"/>
            <a:ext cx="3749040" cy="27432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393192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Klien ingin kontrol lebih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42062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+5% × Avg booking Rp3jt = tambahan revenue signifikan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Upsell terlalu cepat = red flag  ·  Selalu tunjukkan hasil dulu sebelum upsell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Conversation Framework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langkah sistematis dari discovery hingga present harga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234440"/>
            <a:ext cx="269748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417320"/>
            <a:ext cx="411480" cy="41148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61288" y="1417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8928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volume inquiry, conversion rate, average booking value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5848" y="123444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5848" y="1234440"/>
            <a:ext cx="2697480" cy="54864"/>
          </a:xfrm>
          <a:prstGeom prst="rect">
            <a:avLst/>
          </a:prstGeom>
          <a:solidFill>
            <a:srgbClr val="E05A20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3008" y="1417320"/>
            <a:ext cx="411480" cy="411480"/>
          </a:xfrm>
          <a:prstGeom prst="ellipse">
            <a:avLst/>
          </a:prstGeom>
          <a:solidFill>
            <a:srgbClr val="E05A20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14216" y="1417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Loss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93008" y="18928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inquiry tidak terbalas? Ada yang tidak di-follow up?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8776" y="123444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08776" y="1234440"/>
            <a:ext cx="269748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9" name="Shape 17"/>
          <p:cNvSpPr/>
          <p:nvPr/>
        </p:nvSpPr>
        <p:spPr>
          <a:xfrm>
            <a:off x="6345936" y="1417320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6345936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67144" y="1417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45936" y="18928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potensi booking yang hilang setiap minggu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92608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2926080"/>
            <a:ext cx="2697480" cy="54864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4CAF82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1288" y="3108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35844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Tunjukkan potensi tambahan revenue jika di-recover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55848" y="292608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55848" y="2926080"/>
            <a:ext cx="2697480" cy="54864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1" name="Shape 29"/>
          <p:cNvSpPr/>
          <p:nvPr/>
        </p:nvSpPr>
        <p:spPr>
          <a:xfrm>
            <a:off x="3493008" y="3108960"/>
            <a:ext cx="411480" cy="411480"/>
          </a:xfrm>
          <a:prstGeom prst="ellipse">
            <a:avLst/>
          </a:prstGeom>
          <a:solidFill>
            <a:srgbClr val="0F3460"/>
          </a:solidFill>
          <a:ln/>
        </p:spPr>
      </p:sp>
      <p:sp>
        <p:nvSpPr>
          <p:cNvPr id="32" name="Text 30"/>
          <p:cNvSpPr/>
          <p:nvPr/>
        </p:nvSpPr>
        <p:spPr>
          <a:xfrm>
            <a:off x="3493008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014216" y="3108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Solution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93008" y="35844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Jelaskan sistem automation yang relevan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08776" y="292608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08776" y="2926080"/>
            <a:ext cx="2697480" cy="54864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37" name="Shape 35"/>
          <p:cNvSpPr/>
          <p:nvPr/>
        </p:nvSpPr>
        <p:spPr>
          <a:xfrm>
            <a:off x="6345936" y="3108960"/>
            <a:ext cx="411480" cy="411480"/>
          </a:xfrm>
          <a:prstGeom prst="ellipse">
            <a:avLst/>
          </a:prstGeom>
          <a:solidFill>
            <a:srgbClr val="9C27B0"/>
          </a:solidFill>
          <a:ln/>
        </p:spPr>
      </p:sp>
      <p:sp>
        <p:nvSpPr>
          <p:cNvPr id="38" name="Text 36"/>
          <p:cNvSpPr/>
          <p:nvPr/>
        </p:nvSpPr>
        <p:spPr>
          <a:xfrm>
            <a:off x="6345936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67144" y="3108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Price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45936" y="35844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Kaitkan harga </a:t>
            </a:r>
            <a:r>
              <a:rPr lang="en-US" sz="1000" dirty="0" err="1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value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 Flags &amp; Best Practices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32004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3931920" cy="37947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393192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🚩  Red Flags — Hindari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727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Klien hanya fokus ke harga (bukan value)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0756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Tidak punya volume inquiry yang jelas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578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Bisnis model tidak jelas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081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Upsell terlalu cepat sebelum ada hasil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5844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Diskon tanpa alasan yang valid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873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Justify harga dengan "teknologi"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3931920" cy="37947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005840"/>
            <a:ext cx="3931920" cy="54864"/>
          </a:xfrm>
          <a:prstGeom prst="rect">
            <a:avLst/>
          </a:prstGeom>
          <a:solidFill>
            <a:srgbClr val="4CAF82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Best Practices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15727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Selalu mulai dari value - bukan harga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0756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Gunakan data nyata dari klien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2578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Hitung revenue loss bersama klien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3081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Reframe ke potensi recovery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35844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Soft close: audit dulu, baru proposal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40873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Upsell hanya setelah hasil terbukti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2743200"/>
            <a:ext cx="3200400" cy="3200400"/>
          </a:xfrm>
          <a:prstGeom prst="ellipse">
            <a:avLst/>
          </a:prstGeom>
          <a:solidFill>
            <a:srgbClr val="E94560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77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Ingat: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Kita tidak menjual automation.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Kita menjual peningkatan revenue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AAAA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 efisiensi operasional.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29000"/>
            <a:ext cx="4572000" cy="45720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66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  ·  Consultation  ·  Pricing  ·  Upsell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707</Words>
  <Application>Microsoft Office PowerPoint</Application>
  <PresentationFormat>On-screen Show (16:9)</PresentationFormat>
  <Paragraphs>178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Automation Guidance</dc:title>
  <dc:subject>PptxGenJS Presentation</dc:subject>
  <dc:creator>PptxGenJS</dc:creator>
  <cp:lastModifiedBy>G C</cp:lastModifiedBy>
  <cp:revision>3</cp:revision>
  <dcterms:created xsi:type="dcterms:W3CDTF">2026-04-27T21:08:31Z</dcterms:created>
  <dcterms:modified xsi:type="dcterms:W3CDTF">2026-04-27T23:53:36Z</dcterms:modified>
</cp:coreProperties>
</file>